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7</c:v>
                </c:pt>
                <c:pt idx="4">
                  <c:v>6</c:v>
                </c:pt>
                <c:pt idx="5">
                  <c:v>9</c:v>
                </c:pt>
                <c:pt idx="6">
                  <c:v>8</c:v>
                </c:pt>
                <c:pt idx="7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0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829"/>
                </a:solidFill>
              </a:rPr>
              <a:t>AI-Powered  ·  Fully Responsive  ·  Built with React &amp; Vite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852160" y="0"/>
            <a:ext cx="3291840" cy="4754880"/>
          </a:xfrm>
          <a:prstGeom prst="rect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0"/>
            <a:ext cx="54864" cy="4754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65760"/>
            <a:ext cx="749808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8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4389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</a:t>
            </a:r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Compass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1261872"/>
            <a:ext cx="29260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61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🧭  AI-POWERED LEARNING PLATFORM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Navigate Your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Journey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Precision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02920" y="37673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B0BCC8"/>
                </a:solidFill>
              </a:rPr>
              <a:t>Helping students &amp; professionals discover, track, and master the right courses — intelligently.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80760" y="640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12K+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080760" y="1234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300" kern="0" dirty="0">
                <a:solidFill>
                  <a:srgbClr val="B0BCC8"/>
                </a:solidFill>
              </a:rPr>
              <a:t>COURSES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773936"/>
            <a:ext cx="26517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9385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85K+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080760" y="2532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300" kern="0" dirty="0">
                <a:solidFill>
                  <a:srgbClr val="B0BCC8"/>
                </a:solidFill>
              </a:rPr>
              <a:t>LEARNERS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3072384"/>
            <a:ext cx="26517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323697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080760" y="38313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300" kern="0" dirty="0">
                <a:solidFill>
                  <a:srgbClr val="B0BCC8"/>
                </a:solidFill>
              </a:rPr>
              <a:t>SATISFACTION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Learners Are Lost in the Noise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CC8"/>
                </a:solidFill>
              </a:rPr>
              <a:t>The online learning market is massive — but fragmented, overwhelming, and impersonal.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4023360" cy="1353312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47088"/>
            <a:ext cx="54864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93852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😵‍💫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97864" y="19568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Overload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232257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CC8"/>
                </a:solidFill>
              </a:rPr>
              <a:t>Thousands of courses, no clear path. Learners waste hours comparing options with no guidance.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8032" y="1847088"/>
            <a:ext cx="4023360" cy="1353312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847088"/>
            <a:ext cx="54864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193852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22976" y="19568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Completion Rates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92624" y="232257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CC8"/>
                </a:solidFill>
              </a:rPr>
              <a:t>Only 5–15% of online enrollees finish. No accountability, no personalised motivation system.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355848"/>
            <a:ext cx="4023360" cy="1353312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355848"/>
            <a:ext cx="54864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44728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97864" y="3465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Misaligned Recommendations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7512" y="383133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CC8"/>
                </a:solidFill>
              </a:rPr>
              <a:t>Generic suggestions don't match individual skill level, career goals, or learning pace.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28032" y="3355848"/>
            <a:ext cx="4023360" cy="1353312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3355848"/>
            <a:ext cx="54864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344728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22976" y="3465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Progress Visibility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992624" y="383133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CC8"/>
                </a:solidFill>
              </a:rPr>
              <a:t>Learners can't see their growth, skill gaps, or how close they are to being career-ready.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315468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229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🧭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126480" y="2240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18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18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Your Learning.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26480" y="3200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035"/>
                </a:solidFill>
              </a:rPr>
              <a:t>From first course to dream career,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035"/>
                </a:solidFill>
              </a:rPr>
              <a:t>Course Compass has you covered.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126480" y="4114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829"/>
                </a:solidFill>
              </a:rPr>
              <a:t>📚 12K+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86600" y="4114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829"/>
                </a:solidFill>
              </a:rPr>
              <a:t>👥 85K+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4114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829"/>
                </a:solidFill>
              </a:rPr>
              <a:t>🏆 96%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OUR SOLUTION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621792"/>
            <a:ext cx="5257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Compass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502920" y="1828800"/>
            <a:ext cx="5230368" cy="493776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19019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CC8"/>
                </a:solidFill>
              </a:rPr>
              <a:t>AI-Powered Recommendations — Personalised paths based on your goals &amp; skill gaps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414016"/>
            <a:ext cx="5230368" cy="493776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487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CC8"/>
                </a:solidFill>
              </a:rPr>
              <a:t>Progress Dashboard — Visual charts, streaks, skill bars &amp; milestone tracking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2999232"/>
            <a:ext cx="5230368" cy="493776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30723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CC8"/>
                </a:solidFill>
              </a:rPr>
              <a:t>Community Learning — Connect with 85K+ learners, mentors &amp; study partners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584448"/>
            <a:ext cx="5230368" cy="493776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657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CC8"/>
                </a:solidFill>
              </a:rPr>
              <a:t>Profile &amp; Settings — Full control: security, notifications, privacy &amp; themes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169664"/>
            <a:ext cx="5230368" cy="493776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51560" y="42428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CC8"/>
                </a:solidFill>
              </a:rPr>
              <a:t>Certification Engine — Earn certificates &amp; share instantly to LinkedIn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KEY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 Learner Needs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2529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CC8"/>
                </a:solidFill>
              </a:rPr>
              <a:t>Six powerful modules working together to make learning effortless and effective.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2633472" cy="148132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19072"/>
            <a:ext cx="54864" cy="14813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19072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8288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" y="226771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Home Feed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" y="259689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AI-curated course cards, personalised paths &amp; one-click discovery from the landing page.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719072"/>
            <a:ext cx="2633472" cy="148132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719072"/>
            <a:ext cx="54864" cy="14813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719072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18288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83864" y="226771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Discovery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83864" y="259689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Search + filter by category, level &amp; price. Sort by popularity, rating or lowest cost.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719072"/>
            <a:ext cx="2633472" cy="148132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719072"/>
            <a:ext cx="54864" cy="14813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719072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8288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18504" y="226771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Detail View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18504" y="259689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Full curriculum, instructor info, reviews, ratings breakdown &amp; sticky enroll card.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346704"/>
            <a:ext cx="2633472" cy="148132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346704"/>
            <a:ext cx="54864" cy="14813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346704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" y="34564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9224" y="389534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" y="4224528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Recharts area graph, skill progress bars, enrolled courses tracker &amp; weekly streak.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346704"/>
            <a:ext cx="2633472" cy="148132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3346704"/>
            <a:ext cx="54864" cy="14813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3346704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864" y="34564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483864" y="389534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83864" y="4224528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Completion certificates earned on milestones — share directly to LinkedIn in one click.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346704"/>
            <a:ext cx="2633472" cy="148132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3346704"/>
            <a:ext cx="54864" cy="14813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3346704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34564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318504" y="389534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Settings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18504" y="4224528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5-tab settings: personal info, security (2FA), notifications, privacy &amp; appearance.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USER JOURNEY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Seamless 6-Page Experience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88136" y="1572768"/>
            <a:ext cx="36576" cy="33649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499616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829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17320" y="1463040"/>
            <a:ext cx="7315200" cy="512064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17320" y="1463040"/>
            <a:ext cx="54864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15179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Page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49040" y="1536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8"/>
                </a:solidFill>
              </a:rPr>
              <a:t>Hero, AI badge, featured courses &amp; platform stats with CTAs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" y="2084832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829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17320" y="2048256"/>
            <a:ext cx="7315200" cy="512064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417320" y="2048256"/>
            <a:ext cx="54864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/ Sign Up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749040" y="21214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8"/>
                </a:solidFill>
              </a:rPr>
              <a:t>Login + signup, input validation, role selector, SSO buttons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" y="2670048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670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829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17320" y="2633472"/>
            <a:ext cx="7315200" cy="512064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17320" y="2633472"/>
            <a:ext cx="54864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2688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49040" y="27066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8"/>
                </a:solidFill>
              </a:rPr>
              <a:t>Search, category/level/price filters, skeleton loading, sort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" y="3255264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255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829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417320" y="3218688"/>
            <a:ext cx="7315200" cy="512064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417320" y="3218688"/>
            <a:ext cx="54864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3273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Detail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74904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8"/>
                </a:solidFill>
              </a:rPr>
              <a:t>Tabs: Overview · Curriculum · Reviews — sticky enroll card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6384" y="3840480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829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417320" y="3803904"/>
            <a:ext cx="7315200" cy="512064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417320" y="3803904"/>
            <a:ext cx="54864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00200" y="3858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749040" y="38770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8"/>
                </a:solidFill>
              </a:rPr>
              <a:t>Stats, activity chart, skill bars, certificates &amp; community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6384" y="4425696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" y="4425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829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417320" y="4389120"/>
            <a:ext cx="7315200" cy="512064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417320" y="4389120"/>
            <a:ext cx="54864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00200" y="44439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Settings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3749040" y="44622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8"/>
                </a:solidFill>
              </a:rPr>
              <a:t>5 tabs: Profile · Security · Notifications · Privacy · Appearance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RESPONSIVE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Perfect on Every Screen Size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2529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CC8"/>
                </a:solidFill>
              </a:rPr>
              <a:t>Built with a custom useBreakpoint() hook — fluid layouts from 320px phones to 4K desktops.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2633472" cy="3163824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19072"/>
            <a:ext cx="2633472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470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798064"/>
            <a:ext cx="1627632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98064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</a:rPr>
              <a:t>&lt; 768px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3236976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821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Hamburger ☰ menu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584448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95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Single-column cards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931920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770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Sticky enroll card on top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4279392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245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Horizontal filter tabs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626864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720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Compact stat 2×2 grid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1719072"/>
            <a:ext cx="2633472" cy="3163824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1719072"/>
            <a:ext cx="2633472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8470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📟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337560" y="24323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0480" y="2798064"/>
            <a:ext cx="1627632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798064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</a:rPr>
              <a:t>768 – 1024px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20440" y="3236976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31821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2-column grids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20440" y="3584448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35295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Visible sidebar filters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20440" y="3931920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38770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Stacked hero layout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20440" y="4279392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42245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2×2 stat cards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520440" y="4626864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45720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Compact sticky sidebar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72200" y="1719072"/>
            <a:ext cx="2633472" cy="3163824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1719072"/>
            <a:ext cx="2633472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18470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6172200" y="24323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Desktop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675120" y="2798064"/>
            <a:ext cx="1627632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2798064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</a:rPr>
              <a:t>&gt; 1024px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55080" y="3236976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1821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3–4 column course grid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55080" y="3584448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35295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Full sticky filter sidebar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55080" y="3931920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38770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Hero with card-stack visual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55080" y="4279392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42245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All animations active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55080" y="4626864"/>
            <a:ext cx="164592" cy="164592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45720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Complete feature set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Modern Technologies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4059936" cy="138988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36192"/>
            <a:ext cx="54864" cy="13898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2763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⚛️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6152" y="162763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16152" y="1920240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FRONTEND FRAMEWORK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67512" y="2194560"/>
            <a:ext cx="3767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CC8"/>
                </a:solidFill>
              </a:rPr>
              <a:t>Component SPA with hooks, custom useBreakpoint() and full state management. Zero dependencies beyond Recharts.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8032" y="1536192"/>
            <a:ext cx="4059936" cy="138988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536192"/>
            <a:ext cx="54864" cy="13898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162763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41264" y="162763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41264" y="1920240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BUILD TOOL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92624" y="2194560"/>
            <a:ext cx="3767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CC8"/>
                </a:solidFill>
              </a:rPr>
              <a:t>Lightning-fast dev server with HMR. Sub-second hot reloads for instant feedback during development.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4059936" cy="138988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072384"/>
            <a:ext cx="54864" cy="13898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16382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16152" y="3163824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Recharts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16152" y="345643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DATA VISUALISATION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7512" y="3730752"/>
            <a:ext cx="3767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CC8"/>
                </a:solidFill>
              </a:rPr>
              <a:t>Responsive AreaChart for learning activity, animated skill bars and full dashboard analytics.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8032" y="3072384"/>
            <a:ext cx="4059936" cy="138988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28032" y="3072384"/>
            <a:ext cx="54864" cy="13898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316382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541264" y="3163824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CSS-in-JS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41264" y="345643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</a:rPr>
              <a:t>DESIGN SYSTEM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92624" y="3730752"/>
            <a:ext cx="3767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CC8"/>
                </a:solidFill>
              </a:rPr>
              <a:t>Custom CSS variables, responsive grid classes (.g2 .g3 .g4 .gc) and keyframe animations injected via style tag.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663440"/>
            <a:ext cx="8138160" cy="347472"/>
          </a:xfrm>
          <a:prstGeom prst="rect">
            <a:avLst/>
          </a:prstGeom>
          <a:solidFill>
            <a:srgbClr val="080F1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663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BCC8"/>
                </a:solidFill>
              </a:rPr>
              <a:t>User Browser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44752" y="4663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340864" y="4663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BCC8"/>
                </a:solidFill>
              </a:rPr>
              <a:t>React SPA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36976" y="4663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133088" y="4663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BCC8"/>
                </a:solidFill>
              </a:rPr>
              <a:t>Vite Build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4663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25312" y="4663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BCC8"/>
                </a:solidFill>
              </a:rPr>
              <a:t>Recharts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21424" y="4663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17536" y="4663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BCC8"/>
                </a:solidFill>
              </a:rPr>
              <a:t>Responsive UI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PLATFORM METRICS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Scale &amp; Growth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901952" cy="148132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1901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6362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8"/>
                </a:solidFill>
              </a:rPr>
              <a:t>Courses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7752" y="1417320"/>
            <a:ext cx="1901952" cy="148132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87752" y="1417320"/>
            <a:ext cx="1901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56362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87752" y="2039112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85K+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87752" y="25146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8"/>
                </a:solidFill>
              </a:rPr>
              <a:t>Learners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417320"/>
            <a:ext cx="1901952" cy="148132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417320"/>
            <a:ext cx="1901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56362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72584" y="2039112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72584" y="25146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8"/>
                </a:solidFill>
              </a:rPr>
              <a:t>Satisfaction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57416" y="1417320"/>
            <a:ext cx="1901952" cy="148132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57416" y="1417320"/>
            <a:ext cx="1901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156362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57416" y="2039112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757416" y="25146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8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090672"/>
            <a:ext cx="5074920" cy="184708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📈  Weekly Learning Activity</a:t>
            </a:r>
            <a:endParaRPr lang="en-US" sz="11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48640" y="3529584"/>
          <a:ext cx="4956048" cy="13350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5760720" y="3090672"/>
            <a:ext cx="2926080" cy="184708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925312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💡  Skill Progress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925312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C8"/>
                </a:solidFill>
              </a:rPr>
              <a:t>React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132320" y="35661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84C"/>
                </a:solidFill>
              </a:rPr>
              <a:t>78%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925312" y="3794760"/>
            <a:ext cx="26060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25312" y="3794760"/>
            <a:ext cx="2032711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25312" y="38953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C8"/>
                </a:solidFill>
              </a:rPr>
              <a:t>Python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132320" y="38953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84C"/>
                </a:solidFill>
              </a:rPr>
              <a:t>62%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925312" y="4123944"/>
            <a:ext cx="26060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25312" y="4123944"/>
            <a:ext cx="1615745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25312" y="4224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C8"/>
                </a:solidFill>
              </a:rPr>
              <a:t>Design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132320" y="4224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84C"/>
                </a:solidFill>
              </a:rPr>
              <a:t>45%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925312" y="4453128"/>
            <a:ext cx="26060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925312" y="4453128"/>
            <a:ext cx="1172718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25312" y="45537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C8"/>
                </a:solidFill>
              </a:rPr>
              <a:t>Node.js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132320" y="45537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84C"/>
                </a:solidFill>
              </a:rPr>
              <a:t>38%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925312" y="4782312"/>
            <a:ext cx="26060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925312" y="4782312"/>
            <a:ext cx="990295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COURSE CATALOGUE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Categories · 12K+ Courses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2633472" cy="1536192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36192"/>
            <a:ext cx="263347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176272" y="1627632"/>
            <a:ext cx="877824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162763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829"/>
                </a:solidFill>
              </a:rPr>
              <a:t>BESTSELLER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30936" y="21031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C9A84C"/>
                </a:solidFill>
              </a:rPr>
              <a:t>WEB DEV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0936" y="230428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React &amp; Node.js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" y="276148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7A"/>
                </a:solidFill>
              </a:rPr>
              <a:t>Intermediate  ·  ₹1,299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1536192"/>
            <a:ext cx="2633472" cy="1536192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536192"/>
            <a:ext cx="263347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57276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10912" y="1627632"/>
            <a:ext cx="877824" cy="201168"/>
          </a:xfrm>
          <a:prstGeom prst="rect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162763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FREE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465576" y="21031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C9A84C"/>
                </a:solidFill>
              </a:rPr>
              <a:t>DATA SCIENCE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65576" y="230428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&amp; Data Analytics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65576" y="276148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BA82"/>
                </a:solidFill>
              </a:rPr>
              <a:t>Beginner  ·  FREE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1536192"/>
            <a:ext cx="2633472" cy="1536192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536192"/>
            <a:ext cx="263347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57276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300216" y="21031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C9A84C"/>
                </a:solidFill>
              </a:rPr>
              <a:t>DESIGN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00216" y="230428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UX/UI Design with Figma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0216" y="276148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7A"/>
                </a:solidFill>
              </a:rPr>
              <a:t>Beginner  ·  ₹999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227832"/>
            <a:ext cx="2633472" cy="1536192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227832"/>
            <a:ext cx="263347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2644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2176272" y="3319272"/>
            <a:ext cx="877824" cy="20116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33192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NEW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30936" y="37947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C9A84C"/>
                </a:solidFill>
              </a:rPr>
              <a:t>BUSINESS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30936" y="399592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Management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" y="445312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7A"/>
                </a:solidFill>
              </a:rPr>
              <a:t>Advanced  ·  ₹1,499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37560" y="3227832"/>
            <a:ext cx="2633472" cy="1536192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37560" y="3227832"/>
            <a:ext cx="263347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32644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5010912" y="3319272"/>
            <a:ext cx="877824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33192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829"/>
                </a:solidFill>
              </a:rPr>
              <a:t>BESTSELLER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465576" y="37947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C9A84C"/>
                </a:solidFill>
              </a:rPr>
              <a:t>DATA SCIENCE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65576" y="399592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TensorFlow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65576" y="445312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7A"/>
                </a:solidFill>
              </a:rPr>
              <a:t>Advanced  ·  ₹1,799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72200" y="3227832"/>
            <a:ext cx="2633472" cy="1536192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72200" y="3227832"/>
            <a:ext cx="263347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32644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7845552" y="3319272"/>
            <a:ext cx="877824" cy="201168"/>
          </a:xfrm>
          <a:prstGeom prst="rect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45552" y="33192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FREE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300216" y="37947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C9A84C"/>
                </a:solidFill>
              </a:rPr>
              <a:t>CLOUD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300216" y="399592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Computing with AWS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00216" y="445312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BA82"/>
                </a:solidFill>
              </a:rPr>
              <a:t>Intermediate  ·  FREE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WHY COURSE COMPASS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Sets Us Apart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1031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4173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BCC8"/>
                </a:solidFill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417320"/>
            <a:ext cx="2185416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1417320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829"/>
                </a:solidFill>
              </a:rPr>
              <a:t>Course Compass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1417320"/>
            <a:ext cx="202996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8072" y="14173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BCC8"/>
                </a:solidFill>
              </a:rPr>
              <a:t>Generic Platforms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417320"/>
            <a:ext cx="170078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96912" y="14173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BCC8"/>
                </a:solidFill>
              </a:rPr>
              <a:t>YouTube / Free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783080"/>
            <a:ext cx="2103120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7830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AI Recommendations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0" y="1783080"/>
            <a:ext cx="2185416" cy="384048"/>
          </a:xfrm>
          <a:prstGeom prst="rect">
            <a:avLst/>
          </a:prstGeom>
          <a:solidFill>
            <a:srgbClr val="0A20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7830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BA82"/>
                </a:solidFill>
              </a:rPr>
              <a:t>✅ Personalized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74920" y="1783080"/>
            <a:ext cx="2029968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⚠️ Basic filters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1700784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5A5A"/>
                </a:solidFill>
              </a:rPr>
              <a:t>❌ None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2185416"/>
            <a:ext cx="2103120" cy="38404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18541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Progress Dashboard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0" y="2185416"/>
            <a:ext cx="2185416" cy="384048"/>
          </a:xfrm>
          <a:prstGeom prst="rect">
            <a:avLst/>
          </a:prstGeom>
          <a:solidFill>
            <a:srgbClr val="0A20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218541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BA82"/>
                </a:solidFill>
              </a:rPr>
              <a:t>✅ Full analytics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74920" y="2185416"/>
            <a:ext cx="2029968" cy="38404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185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⚠️ Limited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23760" y="2185416"/>
            <a:ext cx="1700784" cy="38404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2185416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5A5A"/>
                </a:solidFill>
              </a:rPr>
              <a:t>❌ None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2587752"/>
            <a:ext cx="2103120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58775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Skill Progress Bars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0" y="2587752"/>
            <a:ext cx="2185416" cy="384048"/>
          </a:xfrm>
          <a:prstGeom prst="rect">
            <a:avLst/>
          </a:prstGeom>
          <a:solidFill>
            <a:srgbClr val="0A20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258775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BA82"/>
                </a:solidFill>
              </a:rPr>
              <a:t>✅ Visual tracking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74920" y="2587752"/>
            <a:ext cx="2029968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5877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5A5A"/>
                </a:solidFill>
              </a:rPr>
              <a:t>❌ Not available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223760" y="2587752"/>
            <a:ext cx="1700784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258775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5A5A"/>
                </a:solidFill>
              </a:rPr>
              <a:t>❌ None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2990088"/>
            <a:ext cx="2103120" cy="38404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29900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Certificate Engine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0" y="2990088"/>
            <a:ext cx="2185416" cy="384048"/>
          </a:xfrm>
          <a:prstGeom prst="rect">
            <a:avLst/>
          </a:prstGeom>
          <a:solidFill>
            <a:srgbClr val="0A20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99008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BA82"/>
                </a:solidFill>
              </a:rPr>
              <a:t>✅ LinkedIn share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74920" y="2990088"/>
            <a:ext cx="2029968" cy="38404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29900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BA82"/>
                </a:solidFill>
              </a:rPr>
              <a:t>✅ Available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223760" y="2990088"/>
            <a:ext cx="1700784" cy="38404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29900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5A5A"/>
                </a:solidFill>
              </a:rPr>
              <a:t>❌ None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3392424"/>
            <a:ext cx="2103120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339242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Community Forums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0" y="3392424"/>
            <a:ext cx="2185416" cy="384048"/>
          </a:xfrm>
          <a:prstGeom prst="rect">
            <a:avLst/>
          </a:prstGeom>
          <a:solidFill>
            <a:srgbClr val="0A20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0" y="3392424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BA82"/>
                </a:solidFill>
              </a:rPr>
              <a:t>✅ Integrated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74920" y="3392424"/>
            <a:ext cx="2029968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66360" y="33924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⚠️ Separate app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223760" y="3392424"/>
            <a:ext cx="1700784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339242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⚠️ Comments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" y="3794760"/>
            <a:ext cx="2103120" cy="38404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37947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Responsive Design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0" y="3794760"/>
            <a:ext cx="2185416" cy="384048"/>
          </a:xfrm>
          <a:prstGeom prst="rect">
            <a:avLst/>
          </a:prstGeom>
          <a:solidFill>
            <a:srgbClr val="0A20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34640" y="379476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BA82"/>
                </a:solidFill>
              </a:rPr>
              <a:t>✅ All devices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074920" y="3794760"/>
            <a:ext cx="2029968" cy="38404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66360" y="3794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⚠️ Partial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223760" y="3794760"/>
            <a:ext cx="1700784" cy="384048"/>
          </a:xfrm>
          <a:prstGeom prst="rect">
            <a:avLst/>
          </a:prstGeom>
          <a:solidFill>
            <a:srgbClr val="0B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0" y="379476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BA82"/>
                </a:solidFill>
              </a:rPr>
              <a:t>✅ App only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02920" y="4197096"/>
            <a:ext cx="2103120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419709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Privacy Controls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743200" y="4197096"/>
            <a:ext cx="2185416" cy="384048"/>
          </a:xfrm>
          <a:prstGeom prst="rect">
            <a:avLst/>
          </a:prstGeom>
          <a:solidFill>
            <a:srgbClr val="0A20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34640" y="4197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BA82"/>
                </a:solidFill>
              </a:rPr>
              <a:t>✅ Full control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074920" y="4197096"/>
            <a:ext cx="2029968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66360" y="41970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CC8"/>
                </a:solidFill>
              </a:rPr>
              <a:t>⚠️ Basic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223760" y="4197096"/>
            <a:ext cx="1700784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0" y="4197096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5A5A"/>
                </a:solidFill>
              </a:rPr>
              <a:t>❌ None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PRODUCT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Coming Next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2633472" cy="340156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36192"/>
            <a:ext cx="2633472" cy="73152"/>
          </a:xfrm>
          <a:prstGeom prst="rect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700784"/>
            <a:ext cx="230428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70078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DBA82"/>
                </a:solidFill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206654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Now ✓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7512" y="2450592"/>
            <a:ext cx="2304288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679192"/>
            <a:ext cx="146304" cy="146304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6151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React SPA — 6 full pages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127248"/>
            <a:ext cx="146304" cy="146304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30632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Course discovery &amp; smart filters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575304"/>
            <a:ext cx="146304" cy="146304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35112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Learning dashboard with charts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023360"/>
            <a:ext cx="146304" cy="146304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9593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Profile settings (5 tabs)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471416"/>
            <a:ext cx="146304" cy="146304"/>
          </a:xfrm>
          <a:prstGeom prst="ellipse">
            <a:avLst/>
          </a:prstGeom>
          <a:solidFill>
            <a:srgbClr val="3DBA82"/>
          </a:solidFill>
          <a:ln w="12700">
            <a:solidFill>
              <a:srgbClr val="3DB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44074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Responsive on all devices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1536192"/>
            <a:ext cx="2633472" cy="340156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1536192"/>
            <a:ext cx="263347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02152" y="1700784"/>
            <a:ext cx="230428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170078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</a:rPr>
              <a:t>PHASE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02152" y="206654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3 Months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502152" y="2450592"/>
            <a:ext cx="2304288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2679192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9896" y="26151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Real AI engine (Node.js + MongoDB)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20440" y="3127248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9896" y="30632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User auth (JWT / OAuth 2.0)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20440" y="3575304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9896" y="35112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Payment integration (Razorpay)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20440" y="4023360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9896" y="39593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Email &amp; push notifications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20440" y="4471416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39896" y="44074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Course upload by instructors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1536192"/>
            <a:ext cx="2633472" cy="3401568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1536192"/>
            <a:ext cx="2633472" cy="731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6792" y="1700784"/>
            <a:ext cx="230428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170078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B9BD5"/>
                </a:solidFill>
              </a:rPr>
              <a:t>PHASE 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36792" y="206654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Months+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36792" y="2450592"/>
            <a:ext cx="2304288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2679192"/>
            <a:ext cx="146304" cy="146304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74536" y="26151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React Native mobile app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3127248"/>
            <a:ext cx="146304" cy="146304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74536" y="30632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Live classes &amp; video streaming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55080" y="3575304"/>
            <a:ext cx="146304" cy="146304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74536" y="35112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Mentor matching system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4023360"/>
            <a:ext cx="146304" cy="146304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74536" y="39593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B2B corporate learning plans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55080" y="4471416"/>
            <a:ext cx="146304" cy="146304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74536" y="44074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CC8"/>
                </a:solidFill>
              </a:rPr>
              <a:t>Instructor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829"/>
                </a:solidFill>
              </a:rPr>
              <a:t>Course Compass  ·  AI Learning Platform  ·  React + Vite  ·  Fully Responsive  ·  Open to Scale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-1371600" y="-1097280"/>
            <a:ext cx="5029200" cy="5029200"/>
          </a:xfrm>
          <a:prstGeom prst="ellipse">
            <a:avLst/>
          </a:prstGeom>
          <a:solidFill>
            <a:srgbClr val="1E3A5F">
              <a:alpha val="22000"/>
            </a:srgbClr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194560"/>
            <a:ext cx="3108960" cy="3108960"/>
          </a:xfrm>
          <a:prstGeom prst="ellipse">
            <a:avLst/>
          </a:prstGeom>
          <a:solidFill>
            <a:srgbClr val="1E3A5F">
              <a:alpha val="18000"/>
            </a:srgbClr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9896" y="237744"/>
            <a:ext cx="749808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39896" y="23774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8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11556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CourseCompass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18836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</a:rPr>
              <a:t>Navigate Your Learning Journey with Precision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43230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B0BCC8"/>
                </a:solidFill>
              </a:rPr>
              <a:t>An AI-powered platform built for the next generation of learners — from first course to dream career.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371600" y="3127248"/>
            <a:ext cx="2176272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312724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829"/>
                </a:solidFill>
              </a:rPr>
              <a:t>🚀  Try It Now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94760" y="3127248"/>
            <a:ext cx="2176272" cy="475488"/>
          </a:xfrm>
          <a:prstGeom prst="rect">
            <a:avLst/>
          </a:prstGeom>
          <a:solidFill>
            <a:srgbClr val="0F2035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312724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📚  Explore Courses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127248"/>
            <a:ext cx="2176272" cy="475488"/>
          </a:xfrm>
          <a:prstGeom prst="rect">
            <a:avLst/>
          </a:prstGeom>
          <a:solidFill>
            <a:srgbClr val="0F2035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312724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📊  View Dashboard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7856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12K+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45920" y="4169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A8899"/>
                </a:solidFill>
              </a:rPr>
              <a:t>COURSES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37856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85K+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114800" y="4169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A8899"/>
                </a:solidFill>
              </a:rPr>
              <a:t>LEARNERS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37856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83680" y="4169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A8899"/>
                </a:solidFill>
              </a:rPr>
              <a:t>SATISFACTION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Compass – AI Learning Platform</dc:title>
  <dc:subject>PptxGenJS Presentation</dc:subject>
  <dc:creator>PptxGenJS</dc:creator>
  <cp:lastModifiedBy>PptxGenJS</cp:lastModifiedBy>
  <cp:revision>1</cp:revision>
  <dcterms:created xsi:type="dcterms:W3CDTF">2026-02-25T16:22:24Z</dcterms:created>
  <dcterms:modified xsi:type="dcterms:W3CDTF">2026-02-25T16:22:24Z</dcterms:modified>
</cp:coreProperties>
</file>